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7.png"/><Relationship Id="rId8" Type="http://schemas.openxmlformats.org/officeDocument/2006/relationships/image" Target="../media/image-4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image" Target="../media/image-70-5.png"/><Relationship Id="rId6" Type="http://schemas.openxmlformats.org/officeDocument/2006/relationships/image" Target="../media/image-70-6.png"/><Relationship Id="rId7" Type="http://schemas.openxmlformats.org/officeDocument/2006/relationships/image" Target="../media/image-70-7.png"/><Relationship Id="rId8" Type="http://schemas.openxmlformats.org/officeDocument/2006/relationships/image" Target="../media/image-70-8.png"/><Relationship Id="rId9" Type="http://schemas.openxmlformats.org/officeDocument/2006/relationships/image" Target="../media/image-70-9.png"/><Relationship Id="rId10" Type="http://schemas.openxmlformats.org/officeDocument/2006/relationships/image" Target="../media/image-70-10.png"/><Relationship Id="rId11" Type="http://schemas.openxmlformats.org/officeDocument/2006/relationships/image" Target="../media/image-70-11.png"/><Relationship Id="rId12" Type="http://schemas.openxmlformats.org/officeDocument/2006/relationships/image" Target="../media/image-7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24075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61722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배성훈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343025"/>
            <a:ext cx="1914525" cy="24574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95525"/>
            <a:ext cx="1890712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0" y="1343025"/>
            <a:ext cx="2371725" cy="250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890"/>
              </a:lnSpc>
              <a:buSzPct val="100000"/>
              <a:buFont typeface="+mj-lt"/>
              <a:buAutoNum type="arabicPeriod" startAt="1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데이터베이스의 큰 그림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0" y="1784350"/>
            <a:ext cx="2371725" cy="250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890"/>
              </a:lnSpc>
              <a:buSzPct val="100000"/>
              <a:buFont typeface="+mj-lt"/>
              <a:buAutoNum type="arabicPeriod" startAt="1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RDBMS의 기본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0" y="2225675"/>
            <a:ext cx="2371725" cy="250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890"/>
              </a:lnSpc>
              <a:buSzPct val="100000"/>
              <a:buFont typeface="+mj-lt"/>
              <a:buAutoNum type="arabicPeriod" startAt="1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2667000"/>
            <a:ext cx="2371725" cy="250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890"/>
              </a:lnSpc>
              <a:buSzPct val="100000"/>
              <a:buFont typeface="+mj-lt"/>
              <a:buAutoNum type="arabicPeriod" startAt="1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효율적 쿼리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0" y="3108325"/>
            <a:ext cx="2371725" cy="250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890"/>
              </a:lnSpc>
              <a:buSzPct val="100000"/>
              <a:buFont typeface="+mj-lt"/>
              <a:buAutoNum type="arabicPeriod" startAt="1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 설계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3549650"/>
            <a:ext cx="2371725" cy="250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890"/>
              </a:lnSpc>
              <a:buSzPct val="100000"/>
              <a:buFont typeface="+mj-lt"/>
              <a:buAutoNum type="arabicPeriod" startAt="1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09563"/>
            <a:ext cx="3162300" cy="4519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402681"/>
            <a:ext cx="3581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1"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데이터베이스의 큰 그림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1495425" y="1328738"/>
            <a:ext cx="614363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347913"/>
            <a:ext cx="4114800" cy="218598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1076325"/>
            <a:ext cx="729960" cy="26094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1343025"/>
            <a:ext cx="729416" cy="2373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9600" y="333375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데이터베이스와 DBMS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09600" y="1228725"/>
            <a:ext cx="1243013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</a:t>
            </a:r>
            <a:endParaRPr lang="en-US" sz="1125" dirty="0"/>
          </a:p>
        </p:txBody>
      </p:sp>
      <p:sp>
        <p:nvSpPr>
          <p:cNvPr id="8" name="Text 3"/>
          <p:cNvSpPr/>
          <p:nvPr/>
        </p:nvSpPr>
        <p:spPr>
          <a:xfrm>
            <a:off x="2209800" y="1219200"/>
            <a:ext cx="2476500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 관리 시스템(DBMS)</a:t>
            </a:r>
            <a:endParaRPr lang="en-US" sz="1125" dirty="0"/>
          </a:p>
        </p:txBody>
      </p:sp>
      <p:sp>
        <p:nvSpPr>
          <p:cNvPr id="9" name="Text 4"/>
          <p:cNvSpPr/>
          <p:nvPr/>
        </p:nvSpPr>
        <p:spPr>
          <a:xfrm>
            <a:off x="4953000" y="976312"/>
            <a:ext cx="2995613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관계형 데이터베이스 관리 시스템(RDBMS)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4953000" y="1462088"/>
            <a:ext cx="3486150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 데이터베이스 관리 시스템(NoSQL DBMS)</a:t>
            </a:r>
            <a:endParaRPr lang="en-US" sz="1125" dirty="0"/>
          </a:p>
        </p:txBody>
      </p:sp>
      <p:sp>
        <p:nvSpPr>
          <p:cNvPr id="11" name="Text 6"/>
          <p:cNvSpPr/>
          <p:nvPr/>
        </p:nvSpPr>
        <p:spPr>
          <a:xfrm>
            <a:off x="4448175" y="976312"/>
            <a:ext cx="738188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238250"/>
            <a:ext cx="1966912" cy="26670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 rot="-7813">
            <a:off x="2476500" y="2571750"/>
            <a:ext cx="209550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2895600" y="2571750"/>
            <a:ext cx="24384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0">
            <a:off x="4114800" y="1352550"/>
            <a:ext cx="457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0">
            <a:off x="4133850" y="1962150"/>
            <a:ext cx="43815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24325" y="3190875"/>
            <a:ext cx="44767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0">
            <a:off x="4133850" y="3790950"/>
            <a:ext cx="43815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333375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시스템 vs 데이터베이스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6363" y="3895725"/>
            <a:ext cx="53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28725" y="2433638"/>
            <a:ext cx="17002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2382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일관성과 무결성 보장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18478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중복 방지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4574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연관 데이터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0670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정교하고 효율적인 검색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36766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백업과 복구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183856" y="1321594"/>
            <a:ext cx="747713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4436269" y="2035969"/>
            <a:ext cx="223838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4179094" y="2750344"/>
            <a:ext cx="747713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4157663" y="3771900"/>
            <a:ext cx="838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333375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데이터베이스의 저장 단위와 트랜잭션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38600" y="1695450"/>
            <a:ext cx="15287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엔티티(Entity)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86213" y="2147888"/>
            <a:ext cx="1628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속성(Attribute)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7188" y="3124200"/>
            <a:ext cx="12715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엔티티 집합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43388" y="719138"/>
            <a:ext cx="11144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현실 세계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05275" y="4191000"/>
            <a:ext cx="13906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91050" y="1223963"/>
            <a:ext cx="852488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추상화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33713" y="1933575"/>
            <a:ext cx="3952875" cy="117157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 rot="0">
            <a:off x="1423988" y="2571853"/>
            <a:ext cx="134302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0">
            <a:off x="3671888" y="2195513"/>
            <a:ext cx="111442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0">
            <a:off x="5253038" y="2200275"/>
            <a:ext cx="1071563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0">
            <a:off x="3671888" y="2990850"/>
            <a:ext cx="112395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3038" y="2990850"/>
            <a:ext cx="1071563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2369344" y="2593181"/>
            <a:ext cx="795338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0">
            <a:off x="2767013" y="3000375"/>
            <a:ext cx="2667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0">
            <a:off x="2767013" y="2195513"/>
            <a:ext cx="2667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3713" y="1933575"/>
            <a:ext cx="3952875" cy="51911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033713" y="2876550"/>
            <a:ext cx="3952875" cy="22860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6396038" y="1933575"/>
            <a:ext cx="466725" cy="519113"/>
          </a:xfrm>
          <a:prstGeom prst="rect">
            <a:avLst/>
          </a:prstGeom>
          <a:noFill/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0" y="2190750"/>
            <a:ext cx="733425" cy="14028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9600" y="333375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데이터베이스의 저장 단위와 트랜잭션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9600" y="2457450"/>
            <a:ext cx="12715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엔티티 집합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891463" y="2081212"/>
            <a:ext cx="9239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스키마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033713" y="2876550"/>
            <a:ext cx="10763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795838" y="2876550"/>
            <a:ext cx="9239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컬렉션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05563" y="2876550"/>
            <a:ext cx="108108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도큐먼트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033713" y="2078831"/>
            <a:ext cx="106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RDBMS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786313" y="2078831"/>
            <a:ext cx="9239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테이블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396038" y="1933575"/>
            <a:ext cx="9239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레코드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396038" y="2224088"/>
            <a:ext cx="9239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필드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543050"/>
            <a:ext cx="1966912" cy="2057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 rot="0">
            <a:off x="2900363" y="2571750"/>
            <a:ext cx="1214438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3200400" y="2571750"/>
            <a:ext cx="1828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0">
            <a:off x="4114800" y="1657350"/>
            <a:ext cx="457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0">
            <a:off x="4133850" y="2266950"/>
            <a:ext cx="43815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24325" y="3495675"/>
            <a:ext cx="44767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24325" y="2876550"/>
            <a:ext cx="44767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333375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데이터베이스의 저장 단위와 트랜잭션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6363" y="3895725"/>
            <a:ext cx="53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2433638"/>
            <a:ext cx="263366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트랜잭션(Transaction)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5430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원자성(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E03E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tomicity)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1526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일관성(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E03E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onsistency)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7622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격리성(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E03E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solation)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371850"/>
            <a:ext cx="24241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지속성(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E03E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urability)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0288"/>
            <a:ext cx="3757613" cy="547688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19225"/>
            <a:ext cx="3843338" cy="23098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2300288"/>
            <a:ext cx="421481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4320"/>
              </a:lnSpc>
              <a:buSzPct val="100000"/>
              <a:buFont typeface="+mj-lt"/>
              <a:buAutoNum type="arabicPeriod" startAt="1"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RDBMS의 기본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9613" y="1614488"/>
            <a:ext cx="4933950" cy="319088"/>
          </a:xfrm>
          <a:prstGeom prst="rect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8663" y="1614488"/>
            <a:ext cx="1638300" cy="1995487"/>
          </a:xfrm>
          <a:prstGeom prst="rect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28763"/>
            <a:ext cx="5167313" cy="208121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138" y="1795463"/>
            <a:ext cx="1019175" cy="14028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7" y="3609975"/>
            <a:ext cx="1102333" cy="71196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구성: 필드와 레코드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6805613" y="1662113"/>
            <a:ext cx="99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2814638" y="4090987"/>
            <a:ext cx="8191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138" y="952500"/>
            <a:ext cx="3900488" cy="3900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구성: 필드와 레코드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767013"/>
            <a:ext cx="862013" cy="170497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119688" y="1538288"/>
            <a:ext cx="1085850" cy="1071563"/>
          </a:xfrm>
          <a:prstGeom prst="rect">
            <a:avLst/>
          </a:prstGeom>
          <a:solidFill>
            <a:srgbClr val="000000">
              <a:alpha val="0"/>
            </a:srgbClr>
          </a:solidFill>
          <a:ln w="63500">
            <a:solidFill>
              <a:srgbClr val="FF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00513" y="3295650"/>
            <a:ext cx="819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63500">
            <a:solidFill>
              <a:srgbClr val="FF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58013" y="3295650"/>
            <a:ext cx="53816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63500">
            <a:solidFill>
              <a:srgbClr val="FF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4788" y="1333500"/>
            <a:ext cx="3276600" cy="12763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538" y="3062288"/>
            <a:ext cx="4814888" cy="8858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구성: 필드와 레코드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09600" y="1819275"/>
            <a:ext cx="11287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키(key)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09600" y="2124075"/>
            <a:ext cx="30765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8"/>
              </a:lnSpc>
              <a:buNone/>
            </a:pPr>
            <a:r>
              <a:rPr lang="en-US" sz="1200" spc="-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레코드들은 어떤 것으로 식별이 가능한가?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09600" y="2767013"/>
            <a:ext cx="13192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b="1" spc="-27" kern="0" dirty="0">
                <a:solidFill>
                  <a:srgbClr val="14253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키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09600" y="3062288"/>
            <a:ext cx="13192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60606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키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09600" y="3357563"/>
            <a:ext cx="13192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60606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슈퍼 키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09600" y="3652838"/>
            <a:ext cx="13192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b="1" spc="-27" kern="0" dirty="0">
                <a:solidFill>
                  <a:srgbClr val="14253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키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09600" y="3948112"/>
            <a:ext cx="13192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60606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키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09600" y="4243388"/>
            <a:ext cx="13192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b="1" spc="-27" kern="0" dirty="0">
                <a:solidFill>
                  <a:srgbClr val="14253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외래 키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6163" y="1971675"/>
            <a:ext cx="1119188" cy="1266825"/>
          </a:xfrm>
          <a:prstGeom prst="rect">
            <a:avLst/>
          </a:prstGeom>
          <a:solidFill>
            <a:srgbClr val="000000">
              <a:alpha val="0"/>
            </a:srgbClr>
          </a:solidFill>
          <a:ln w="63500">
            <a:solidFill>
              <a:srgbClr val="FF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58013" y="1971675"/>
            <a:ext cx="1195388" cy="1266825"/>
          </a:xfrm>
          <a:prstGeom prst="rect">
            <a:avLst/>
          </a:prstGeom>
          <a:solidFill>
            <a:srgbClr val="000000">
              <a:alpha val="0"/>
            </a:srgbClr>
          </a:solidFill>
          <a:ln w="63500">
            <a:solidFill>
              <a:srgbClr val="FF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15013" y="1971675"/>
            <a:ext cx="1143000" cy="1266825"/>
          </a:xfrm>
          <a:prstGeom prst="rect">
            <a:avLst/>
          </a:prstGeom>
          <a:solidFill>
            <a:srgbClr val="000000">
              <a:alpha val="0"/>
            </a:srgbClr>
          </a:solidFill>
          <a:ln w="63500">
            <a:solidFill>
              <a:srgbClr val="FF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6163" y="1971675"/>
            <a:ext cx="4567238" cy="126682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588" y="3362325"/>
            <a:ext cx="140289" cy="647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구성: 필드와 레코드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09600" y="2295525"/>
            <a:ext cx="10382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키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09600" y="2647950"/>
            <a:ext cx="2576513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8"/>
              </a:lnSpc>
              <a:buNone/>
            </a:pPr>
            <a:r>
              <a:rPr lang="en-US" sz="1200" spc="-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유일성과 최소성을 모두 만족하는 키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438650" y="4148137"/>
            <a:ext cx="32670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고유한 값이라면 각각이 후보 키로 간주됨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6163" y="1971675"/>
            <a:ext cx="1119188" cy="1266825"/>
          </a:xfrm>
          <a:prstGeom prst="rect">
            <a:avLst/>
          </a:prstGeom>
          <a:solidFill>
            <a:srgbClr val="000000">
              <a:alpha val="0"/>
            </a:srgbClr>
          </a:solidFill>
          <a:ln w="63500">
            <a:solidFill>
              <a:srgbClr val="FF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6163" y="1971675"/>
            <a:ext cx="4567238" cy="126682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588" y="3362325"/>
            <a:ext cx="140289" cy="647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구성: 필드와 레코드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09600" y="2295525"/>
            <a:ext cx="145256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키(PK)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09600" y="2647950"/>
            <a:ext cx="2233612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8"/>
              </a:lnSpc>
              <a:buNone/>
            </a:pPr>
            <a:r>
              <a:rPr lang="en-US" sz="1200" spc="-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키 중 테이블의 레코드를 대표하도록 선택된 키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19613" y="4124325"/>
            <a:ext cx="31051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후보 키 중 ‘학번’ 필드를 기본 키로 선택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5688" y="1562100"/>
            <a:ext cx="4938713" cy="2481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구성: 필드와 레코드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9600" y="2295525"/>
            <a:ext cx="14430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외래 키(FK)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09600" y="2647950"/>
            <a:ext cx="2795588" cy="614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8"/>
              </a:lnSpc>
              <a:buNone/>
            </a:pPr>
            <a:r>
              <a:rPr lang="en-US" sz="1200" spc="-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테이블의 기본 키를 참조하는 필드</a:t>
            </a:r>
            <a:endParaRPr lang="en-US" sz="1200" dirty="0"/>
          </a:p>
          <a:p>
            <a:pPr algn="l" indent="0" marL="0">
              <a:lnSpc>
                <a:spcPts val="1608"/>
              </a:lnSpc>
              <a:buNone/>
            </a:pPr>
            <a:r>
              <a:rPr lang="en-US" sz="1200" spc="-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간의 참조 관계를 형성할 때 사용하는 키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038" y="1371600"/>
            <a:ext cx="4762500" cy="2319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관계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9600" y="2433638"/>
            <a:ext cx="17907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일대일 대응 관계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900" y="1595438"/>
            <a:ext cx="4762500" cy="1952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관계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9600" y="2433638"/>
            <a:ext cx="17907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일대다 대응 관계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1763" y="1033462"/>
            <a:ext cx="3414713" cy="30765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2543175"/>
            <a:ext cx="1743075" cy="14028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관계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609600" y="2433638"/>
            <a:ext cx="17907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다대다 대응 관계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7267575" y="2428875"/>
            <a:ext cx="16383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중간(조인) 테이블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463" y="1524000"/>
            <a:ext cx="5595938" cy="20907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무결성 제약 조건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9600" y="2433638"/>
            <a:ext cx="17907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제약 조건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100000">
            <a:off x="5585027" y="2840838"/>
            <a:ext cx="464746" cy="0"/>
          </a:xfrm>
          <a:prstGeom prst="line">
            <a:avLst/>
          </a:prstGeom>
          <a:noFill/>
          <a:ln w="101600">
            <a:solidFill>
              <a:srgbClr val="1889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8100000">
            <a:off x="5585027" y="2836075"/>
            <a:ext cx="464746" cy="0"/>
          </a:xfrm>
          <a:prstGeom prst="line">
            <a:avLst/>
          </a:prstGeom>
          <a:noFill/>
          <a:ln w="101600">
            <a:solidFill>
              <a:srgbClr val="1889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463" y="1524000"/>
            <a:ext cx="5595938" cy="209073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942" y="2651348"/>
            <a:ext cx="415696" cy="4754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001" y="2626383"/>
            <a:ext cx="797682" cy="513017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662" y="2297072"/>
            <a:ext cx="771283" cy="953038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207" y="2409273"/>
            <a:ext cx="572653" cy="1447101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377" y="2244609"/>
            <a:ext cx="1628217" cy="151300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356" y="2491935"/>
            <a:ext cx="821699" cy="989609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0418" y="2527829"/>
            <a:ext cx="147451" cy="730596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3420" y="2559387"/>
            <a:ext cx="1077534" cy="972610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8052" y="2619345"/>
            <a:ext cx="305581" cy="245630"/>
          </a:xfrm>
          <a:prstGeom prst="rect">
            <a:avLst/>
          </a:prstGeom>
        </p:spPr>
      </p:pic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2608" y="2589366"/>
            <a:ext cx="260617" cy="238125"/>
          </a:xfrm>
          <a:prstGeom prst="rect">
            <a:avLst/>
          </a:prstGeom>
        </p:spPr>
      </p:pic>
      <p:pic>
        <p:nvPicPr>
          <p:cNvPr id="1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4643" y="2589366"/>
            <a:ext cx="268095" cy="238125"/>
          </a:xfrm>
          <a:prstGeom prst="rect">
            <a:avLst/>
          </a:prstGeom>
        </p:spPr>
      </p:pic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75075" y="1027162"/>
            <a:ext cx="2543361" cy="1304615"/>
          </a:xfrm>
          <a:prstGeom prst="rect">
            <a:avLst/>
          </a:prstGeom>
        </p:spPr>
      </p:pic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3900" y="2669134"/>
            <a:ext cx="972610" cy="795040"/>
          </a:xfrm>
          <a:prstGeom prst="rect">
            <a:avLst/>
          </a:prstGeom>
        </p:spPr>
      </p:pic>
      <p:pic>
        <p:nvPicPr>
          <p:cNvPr id="1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2575" y="2852738"/>
            <a:ext cx="904875" cy="280567"/>
          </a:xfrm>
          <a:prstGeom prst="rect">
            <a:avLst/>
          </a:prstGeom>
        </p:spPr>
      </p:pic>
      <p:pic>
        <p:nvPicPr>
          <p:cNvPr id="1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76600" y="1852612"/>
            <a:ext cx="140271" cy="252413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무결성 제약 조건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609600" y="2433638"/>
            <a:ext cx="14382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 제약 조건</a:t>
            </a:r>
            <a:endParaRPr lang="en-US" sz="1650" dirty="0"/>
          </a:p>
        </p:txBody>
      </p:sp>
      <p:sp>
        <p:nvSpPr>
          <p:cNvPr id="22" name="Text 4"/>
          <p:cNvSpPr/>
          <p:nvPr/>
        </p:nvSpPr>
        <p:spPr>
          <a:xfrm>
            <a:off x="3052763" y="2500313"/>
            <a:ext cx="681038" cy="17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b="1" spc="-21" kern="0" dirty="0">
                <a:solidFill>
                  <a:srgbClr val="55555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kim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3676650" y="2500313"/>
            <a:ext cx="604838" cy="17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b="1" spc="-21" kern="0" dirty="0">
                <a:solidFill>
                  <a:srgbClr val="55555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4314825" y="2500313"/>
            <a:ext cx="542925" cy="17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b="1" spc="-21" kern="0" dirty="0">
                <a:solidFill>
                  <a:srgbClr val="55555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2786063" y="1595438"/>
            <a:ext cx="14335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55555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Key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6357938" y="2728913"/>
            <a:ext cx="7572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5C5C5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95725" y="1857375"/>
            <a:ext cx="1347788" cy="1576388"/>
          </a:xfrm>
          <a:prstGeom prst="roundRect">
            <a:avLst>
              <a:gd name="adj" fmla="val 6784"/>
            </a:avLst>
          </a:prstGeom>
          <a:noFill/>
          <a:ln w="50800">
            <a:solidFill>
              <a:srgbClr val="ABAB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14775" y="2205038"/>
            <a:ext cx="1328738" cy="0"/>
          </a:xfrm>
          <a:prstGeom prst="line">
            <a:avLst/>
          </a:prstGeom>
          <a:noFill/>
          <a:ln w="50800">
            <a:solidFill>
              <a:srgbClr val="ABABA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400300"/>
            <a:ext cx="1062038" cy="1402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무결성 제약 조건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600" y="2433638"/>
            <a:ext cx="236696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 무결성 제약 조건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124575" y="2266950"/>
            <a:ext cx="10715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 Null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86263" y="1919288"/>
            <a:ext cx="828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81488" y="2266950"/>
            <a:ext cx="10334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E03E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user_id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352925" y="2552700"/>
            <a:ext cx="8953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43425" y="2733675"/>
            <a:ext cx="50958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0388" y="1519238"/>
            <a:ext cx="5053013" cy="2100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무결성 제약 조건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9600" y="2433638"/>
            <a:ext cx="218598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무결성 제약 조건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543050"/>
            <a:ext cx="2295525" cy="2057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 rot="0">
            <a:off x="2295525" y="2571750"/>
            <a:ext cx="181927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3200400" y="2571750"/>
            <a:ext cx="1828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0">
            <a:off x="4133850" y="2266950"/>
            <a:ext cx="43815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0">
            <a:off x="4133850" y="1676400"/>
            <a:ext cx="43815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24325" y="3495675"/>
            <a:ext cx="44767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24325" y="2876550"/>
            <a:ext cx="447675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무결성 제약 조건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433638"/>
            <a:ext cx="20002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제약 위반 시...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72000" y="1543050"/>
            <a:ext cx="27527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제한 (RESTRICT)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152650"/>
            <a:ext cx="27527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설정 (SET DEFAULT)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762250"/>
            <a:ext cx="27527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NULL 값 설정 (SET NULL)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3371850"/>
            <a:ext cx="27527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연쇄 변경 (CASCADE)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0288"/>
            <a:ext cx="1585913" cy="547688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76438"/>
            <a:ext cx="4090987" cy="1195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2300288"/>
            <a:ext cx="204311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4320"/>
              </a:lnSpc>
              <a:buSzPct val="100000"/>
              <a:buFont typeface="+mj-lt"/>
              <a:buAutoNum type="arabicPeriod" startAt="1"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05038"/>
            <a:ext cx="2752725" cy="7334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771900" y="862013"/>
            <a:ext cx="4762500" cy="3414977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0" y="862013"/>
            <a:ext cx="4819650" cy="202432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3029215"/>
            <a:ext cx="3567113" cy="1285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정의 언어(DDL)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09600" y="2205038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09600" y="2538413"/>
            <a:ext cx="320992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데이터베이스나 테이블, 뷰, 인덱스, 사용자 등 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데이터베이스 객체를 새로 만들 때 사용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847725"/>
            <a:ext cx="4210050" cy="3500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정의 언어(DDL)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ALTER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만들어진 테이블의 구조를 수정할 때 사용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76450"/>
            <a:ext cx="2752725" cy="9906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8613" y="2181225"/>
            <a:ext cx="4210050" cy="839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정의 언어(DDL)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076450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DROP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4098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데이터베이스나 테이블, 뷰 등을 삭제할 때 사용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667000"/>
            <a:ext cx="320992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삭제된 데이터베이스는 다시 복구가 불가능하니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주의해야 함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05038"/>
            <a:ext cx="2752725" cy="73342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2181225"/>
            <a:ext cx="4210050" cy="839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정의 언어(DDL)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205038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TRUNCATE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538413"/>
            <a:ext cx="320992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구조는 유지한 채, 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내 모든 데이터를 삭제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85950"/>
            <a:ext cx="2752725" cy="137636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167188" y="1552575"/>
            <a:ext cx="4152900" cy="203491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1552575"/>
            <a:ext cx="4210050" cy="83925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88" y="2506133"/>
            <a:ext cx="4210050" cy="11385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09600" y="1885950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INSERT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09600" y="22193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테이블에 데이터를 삽입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09600" y="2476500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반드시 무결성 제약 조건을 지켜야 함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9600" y="2733675"/>
            <a:ext cx="3209925" cy="528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386"/>
              </a:lnSpc>
              <a:buSzPct val="100000"/>
              <a:buChar char="•"/>
            </a:pPr>
            <a:r>
              <a:rPr lang="en-US" sz="1050" spc="-21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 NULL: null 안 됨</a:t>
            </a:r>
            <a:endParaRPr lang="en-US" sz="1050" dirty="0"/>
          </a:p>
          <a:p>
            <a:pPr algn="l" marL="342900" indent="-342900">
              <a:lnSpc>
                <a:spcPts val="1386"/>
              </a:lnSpc>
              <a:buSzPct val="100000"/>
              <a:buChar char="•"/>
            </a:pPr>
            <a:r>
              <a:rPr lang="en-US" sz="1050" spc="-21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UNIQUE: 중복 안 됨</a:t>
            </a:r>
            <a:endParaRPr lang="en-US" sz="1050" dirty="0"/>
          </a:p>
          <a:p>
            <a:pPr algn="l" marL="342900" indent="-342900">
              <a:lnSpc>
                <a:spcPts val="1386"/>
              </a:lnSpc>
              <a:buSzPct val="100000"/>
              <a:buChar char="•"/>
            </a:pPr>
            <a:r>
              <a:rPr lang="en-US" sz="1050" spc="-21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FOREIGN KEY: 참조 대상이 반드시 존재해야 함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76463"/>
            <a:ext cx="2752725" cy="79057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900" y="1809750"/>
            <a:ext cx="4210050" cy="1581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176463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UPDATE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509838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내 데이터를 수정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767013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없이 실행시 테이블 전체 레코드가 수정됨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76463"/>
            <a:ext cx="2752725" cy="79057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2181225"/>
            <a:ext cx="4210050" cy="839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176463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DELETE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509838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내 데이터를 삭제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767013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없이 실행시 테이블 전체 레코드가 삭제됨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47863"/>
            <a:ext cx="2752725" cy="124777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1957388"/>
            <a:ext cx="4210050" cy="12861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1947863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281238"/>
            <a:ext cx="320992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자주 사용되는 SQL문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테이블에 삽입된 데이터를 조회할 때 사용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738438"/>
            <a:ext cx="32099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실제 실행 순서</a:t>
            </a:r>
            <a:endParaRPr lang="en-US" sz="90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→ WHERE → GROUP BY → HAVING </a:t>
            </a:r>
            <a:endParaRPr lang="en-US" sz="90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SELECT → ORDER BY → LIMIT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1809750"/>
            <a:ext cx="4210050" cy="1581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조건에 맞는 데이터만 조회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1809750"/>
            <a:ext cx="4210050" cy="1581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32099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검색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800350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2181225"/>
            <a:ext cx="4210050" cy="839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32575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COUNT, SUM, AVG, MAX, MIN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 함수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1809750"/>
            <a:ext cx="4210050" cy="1581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14811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BY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그룹별 통계 내기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1809750"/>
            <a:ext cx="4210050" cy="18766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12287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HAVING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그룹화된 결과에 조건 걸기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1809750"/>
            <a:ext cx="4210050" cy="1581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145256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 BY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정렬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1957388"/>
            <a:ext cx="4210050" cy="12861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조작 언어(DML)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9858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LIMIT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개수 제한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14513"/>
            <a:ext cx="2752725" cy="151447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2028825"/>
            <a:ext cx="4424363" cy="1138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 제어 언어(TCL)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1814513"/>
            <a:ext cx="1309687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COMMIT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147888"/>
            <a:ext cx="320992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트랜잭션에서 수행한 작업을 데이터베이스에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반영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605088"/>
            <a:ext cx="320992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MySQL은 기본적으로 auto commit 모드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9600" y="2814638"/>
            <a:ext cx="320992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188"/>
              </a:lnSpc>
              <a:buSzPct val="100000"/>
              <a:buChar char="•"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CREATE, DROP, ALTER 같은 DDL문은 무조건 자동 커밋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9600" y="3024188"/>
            <a:ext cx="3209925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188"/>
              </a:lnSpc>
              <a:buSzPct val="100000"/>
              <a:buChar char="•"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SQL문도 커밋되도록 기본 설정되어 있어서, 명시적으로 트랜잭션을 쓰려면 SET autocommit=0;을 지정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188" y="2028825"/>
            <a:ext cx="4424363" cy="1138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 제어 언어(TCL)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15144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ROLLBACK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트랜잭션에서 수행한 작업을 되돌림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75272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38" y="1438275"/>
            <a:ext cx="4519613" cy="2319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 제어 언어(TCL)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305050"/>
            <a:ext cx="15859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SAVEPOINT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638425"/>
            <a:ext cx="320992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롤백할 중간 시점을 지정할 수 있는 기능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600325"/>
            <a:ext cx="4267200" cy="2286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09600" y="2309813"/>
            <a:ext cx="42672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제어 언어(DCL)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309813"/>
            <a:ext cx="13811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GRANT	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009775" y="2309813"/>
            <a:ext cx="1843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사용자에게 권한 부여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600325"/>
            <a:ext cx="136683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REVOKE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995487" y="2600325"/>
            <a:ext cx="19907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사용자로부터 권한 회수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0288"/>
            <a:ext cx="2852738" cy="547688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81163"/>
            <a:ext cx="4491038" cy="17764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2300288"/>
            <a:ext cx="3309938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4320"/>
              </a:lnSpc>
              <a:buSzPct val="100000"/>
              <a:buFont typeface="+mj-lt"/>
              <a:buAutoNum type="arabicPeriod" startAt="1"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효율적 쿼리</a:t>
            </a:r>
            <a:endParaRPr lang="en-US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0688" y="2557463"/>
            <a:ext cx="2271713" cy="2762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500688" y="3052763"/>
            <a:ext cx="2557463" cy="276225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90675"/>
            <a:ext cx="904875" cy="90487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8" y="1519238"/>
            <a:ext cx="904875" cy="9048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538413"/>
            <a:ext cx="904875" cy="9048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43225"/>
            <a:ext cx="904875" cy="90487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375" y="3524250"/>
            <a:ext cx="904875" cy="904875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5538" y="2424113"/>
            <a:ext cx="904875" cy="904875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3524250"/>
            <a:ext cx="904875" cy="904875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1863" y="2914650"/>
            <a:ext cx="1614488" cy="140284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서브 쿼리와 조인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5500688" y="3052763"/>
            <a:ext cx="301466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조인</a:t>
            </a:r>
            <a:endParaRPr lang="en-US" sz="1650" dirty="0"/>
          </a:p>
        </p:txBody>
      </p:sp>
      <p:sp>
        <p:nvSpPr>
          <p:cNvPr id="14" name="Text 4"/>
          <p:cNvSpPr/>
          <p:nvPr/>
        </p:nvSpPr>
        <p:spPr>
          <a:xfrm>
            <a:off x="5500688" y="2557463"/>
            <a:ext cx="27289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 쿼리</a:t>
            </a:r>
            <a:endParaRPr lang="en-US" sz="16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809875" cy="533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957638" y="966788"/>
            <a:ext cx="4462463" cy="3205427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188744" y="966788"/>
            <a:ext cx="2000250" cy="11049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57825" y="1871663"/>
            <a:ext cx="1462088" cy="200025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869" y="2576513"/>
            <a:ext cx="140280" cy="3714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638" y="3090863"/>
            <a:ext cx="4519613" cy="1138503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744" y="966788"/>
            <a:ext cx="2000250" cy="904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서브 쿼리와 조인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957638" y="2224088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유저별로 작성한 글의 개수?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457825" y="1871663"/>
            <a:ext cx="8191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553200" y="1871663"/>
            <a:ext cx="8239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09600" y="2305050"/>
            <a:ext cx="12144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 쿼리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09600" y="2638425"/>
            <a:ext cx="32670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SQL문 안에 또 다른 SQL 문이 들어가는 형태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5050"/>
            <a:ext cx="2462213" cy="533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090987" y="1257300"/>
            <a:ext cx="4063178" cy="2628657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090987" y="1257300"/>
            <a:ext cx="1690097" cy="1196152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34" y="1257300"/>
            <a:ext cx="1771129" cy="11923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987" y="2682053"/>
            <a:ext cx="1759553" cy="1203904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190" y="2682053"/>
            <a:ext cx="1747977" cy="119232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987" y="1562100"/>
            <a:ext cx="1690097" cy="89135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서브 쿼리와 조인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4090987" y="1257300"/>
            <a:ext cx="2147297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6"/>
              </a:lnSpc>
              <a:buNone/>
            </a:pPr>
            <a:r>
              <a:rPr lang="en-US" sz="1823" spc="-36" kern="0" dirty="0">
                <a:solidFill>
                  <a:srgbClr val="3F383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INNER 조인</a:t>
            </a:r>
            <a:endParaRPr lang="en-US" sz="1823" dirty="0"/>
          </a:p>
        </p:txBody>
      </p:sp>
      <p:sp>
        <p:nvSpPr>
          <p:cNvPr id="11" name="Text 5"/>
          <p:cNvSpPr/>
          <p:nvPr/>
        </p:nvSpPr>
        <p:spPr>
          <a:xfrm>
            <a:off x="609600" y="2305050"/>
            <a:ext cx="14763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조인 (JOIN)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09600" y="26384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 이상의 테이블을 하나로 합치는 것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54104"/>
            <a:ext cx="3252788" cy="2040054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457700" y="2055614"/>
            <a:ext cx="3750469" cy="1189434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866" y="2483325"/>
            <a:ext cx="1591628" cy="3320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055614"/>
            <a:ext cx="3807619" cy="89415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01829"/>
            <a:ext cx="1771129" cy="11923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서브 쿼리와 조인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457700" y="3045023"/>
            <a:ext cx="4207669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모든 고객이 나오고, 주문 안 한 사람은 amount가 NULL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09600" y="1554104"/>
            <a:ext cx="21621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LEFT OUTER JOIN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09600" y="1887479"/>
            <a:ext cx="3709987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테이블의 모든 레코드 + 조건 맞는 오른쪽 레코드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09600" y="2144654"/>
            <a:ext cx="289083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오른쪽에 매칭 없으면 NULL로 채움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48316"/>
            <a:ext cx="3252788" cy="205163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457700" y="2055614"/>
            <a:ext cx="3750469" cy="1189434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73" y="2516986"/>
            <a:ext cx="1761502" cy="32778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055614"/>
            <a:ext cx="3807619" cy="89415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96041"/>
            <a:ext cx="1759548" cy="120390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서브 쿼리와 조인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457700" y="3045023"/>
            <a:ext cx="4207669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모든 주문이 나오고, 고객 정보 없는 주문은 name이 NULL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09600" y="1548316"/>
            <a:ext cx="229076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RIGHT OUTER JOIN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09600" y="1881691"/>
            <a:ext cx="3709987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테이블의 모든 레코드 + 조건 맞는 왼쪽 레코드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09600" y="2138866"/>
            <a:ext cx="289083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왼쪽에 매칭 없으면 NULL로 채움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449329"/>
            <a:ext cx="3252788" cy="2249604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457700" y="1741289"/>
            <a:ext cx="3750469" cy="1818084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38" y="2652713"/>
            <a:ext cx="1758758" cy="27211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41289"/>
            <a:ext cx="3807619" cy="152280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06604"/>
            <a:ext cx="1747977" cy="11923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서브 쿼리와 조인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457700" y="3359348"/>
            <a:ext cx="4207669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고객만 있는 경우, 주문만 있는 경우 모두 다 나옴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09600" y="1449329"/>
            <a:ext cx="21621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FULL OUTER JOIN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09600" y="1782704"/>
            <a:ext cx="3709987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양쪽 테이블의 모든 레코드를 다 가져옴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09600" y="2039879"/>
            <a:ext cx="289083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 안 되는 건 NULL로 채움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9600" y="2297054"/>
            <a:ext cx="2890838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MySQL은 UNION으로 우회해야 함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635970"/>
            <a:ext cx="2978104" cy="1871149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09600" y="2074120"/>
            <a:ext cx="2978104" cy="842449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609600" y="2074120"/>
            <a:ext cx="690049" cy="842449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372288" y="2074120"/>
            <a:ext cx="690049" cy="842449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134967" y="2074120"/>
            <a:ext cx="690049" cy="842449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97656" y="2074120"/>
            <a:ext cx="690049" cy="842449"/>
          </a:xfrm>
          <a:prstGeom prst="rect">
            <a:avLst/>
          </a:prstGeom>
          <a:noFill/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4850" y="923925"/>
            <a:ext cx="4519613" cy="335306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988" y="2719388"/>
            <a:ext cx="681038" cy="14028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656" y="2074120"/>
            <a:ext cx="690051" cy="690049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967" y="2074120"/>
            <a:ext cx="690051" cy="690049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288" y="2074120"/>
            <a:ext cx="690051" cy="690049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74120"/>
            <a:ext cx="690051" cy="69004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뷰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3967163" y="2419350"/>
            <a:ext cx="6286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💀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609600" y="1635970"/>
            <a:ext cx="3435304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8"/>
              </a:lnSpc>
              <a:buNone/>
            </a:pPr>
            <a:r>
              <a:rPr lang="en-US" sz="915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서브쿼리..</a:t>
            </a:r>
            <a:endParaRPr lang="en-US" sz="915" dirty="0"/>
          </a:p>
        </p:txBody>
      </p:sp>
      <p:sp>
        <p:nvSpPr>
          <p:cNvPr id="17" name="Text 9"/>
          <p:cNvSpPr/>
          <p:nvPr/>
        </p:nvSpPr>
        <p:spPr>
          <a:xfrm>
            <a:off x="609600" y="3202318"/>
            <a:ext cx="343530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8"/>
              </a:lnSpc>
              <a:buNone/>
            </a:pPr>
            <a:r>
              <a:rPr lang="en-US" sz="915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2024년에 가장 비싼 제품을 산 사람 중, 해당 제품에 대해 리뷰를 남긴 사람의 이름과 리뷰 내용</a:t>
            </a:r>
            <a:endParaRPr lang="en-US" sz="915" dirty="0"/>
          </a:p>
        </p:txBody>
      </p:sp>
      <p:sp>
        <p:nvSpPr>
          <p:cNvPr id="18" name="Text 10"/>
          <p:cNvSpPr/>
          <p:nvPr/>
        </p:nvSpPr>
        <p:spPr>
          <a:xfrm>
            <a:off x="2897656" y="2764168"/>
            <a:ext cx="1147249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8"/>
              </a:lnSpc>
              <a:buNone/>
            </a:pPr>
            <a:r>
              <a:rPr lang="en-US" sz="915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reviews</a:t>
            </a:r>
            <a:endParaRPr lang="en-US" sz="915" dirty="0"/>
          </a:p>
        </p:txBody>
      </p:sp>
      <p:sp>
        <p:nvSpPr>
          <p:cNvPr id="19" name="Text 11"/>
          <p:cNvSpPr/>
          <p:nvPr/>
        </p:nvSpPr>
        <p:spPr>
          <a:xfrm>
            <a:off x="2134967" y="2764168"/>
            <a:ext cx="1147249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8"/>
              </a:lnSpc>
              <a:buNone/>
            </a:pPr>
            <a:r>
              <a:rPr lang="en-US" sz="915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products</a:t>
            </a:r>
            <a:endParaRPr lang="en-US" sz="915" dirty="0"/>
          </a:p>
        </p:txBody>
      </p:sp>
      <p:sp>
        <p:nvSpPr>
          <p:cNvPr id="20" name="Text 12"/>
          <p:cNvSpPr/>
          <p:nvPr/>
        </p:nvSpPr>
        <p:spPr>
          <a:xfrm>
            <a:off x="1372288" y="2764168"/>
            <a:ext cx="1147249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8"/>
              </a:lnSpc>
              <a:buNone/>
            </a:pPr>
            <a:r>
              <a:rPr lang="en-US" sz="915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915" dirty="0"/>
          </a:p>
        </p:txBody>
      </p:sp>
      <p:sp>
        <p:nvSpPr>
          <p:cNvPr id="21" name="Text 13"/>
          <p:cNvSpPr/>
          <p:nvPr/>
        </p:nvSpPr>
        <p:spPr>
          <a:xfrm>
            <a:off x="609600" y="2764168"/>
            <a:ext cx="1147249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8"/>
              </a:lnSpc>
              <a:buNone/>
            </a:pPr>
            <a:r>
              <a:rPr lang="en-US" sz="915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users</a:t>
            </a:r>
            <a:endParaRPr lang="en-US" sz="91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05038"/>
            <a:ext cx="2462213" cy="7334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071938" y="666750"/>
            <a:ext cx="4462463" cy="3806031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071938" y="666750"/>
            <a:ext cx="4462463" cy="1043252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071938" y="1900503"/>
            <a:ext cx="4462463" cy="119089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071938" y="3281892"/>
            <a:ext cx="4462463" cy="1190890"/>
          </a:xfrm>
          <a:prstGeom prst="rect">
            <a:avLst/>
          </a:prstGeom>
          <a:noFill/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38" y="3539067"/>
            <a:ext cx="4519613" cy="99086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38" y="2157678"/>
            <a:ext cx="4519613" cy="99086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938" y="923925"/>
            <a:ext cx="4519613" cy="8432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뷰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071938" y="3281892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584"/>
              </a:lnSpc>
              <a:buSzPct val="100000"/>
              <a:buFont typeface="+mj-lt"/>
              <a:buAutoNum type="arabicPeriod" startAt="1"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조회 쿼리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071938" y="1900503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584"/>
              </a:lnSpc>
              <a:buSzPct val="100000"/>
              <a:buFont typeface="+mj-lt"/>
              <a:buAutoNum type="arabicPeriod" startAt="1"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2024년에 해당 상품을 주문한 유저 목록 뷰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071938" y="666750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584"/>
              </a:lnSpc>
              <a:buSzPct val="100000"/>
              <a:buFont typeface="+mj-lt"/>
              <a:buAutoNum type="arabicPeriod" startAt="1"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비싼 상품 뷰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9600" y="2205038"/>
            <a:ext cx="18478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뷰(View)의 등장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09600" y="25384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SELECT문 결과를 마치 테이블처럼 저장해두고, 이후 재사용할 수 있는 기능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05038"/>
            <a:ext cx="2462213" cy="7334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071938" y="666750"/>
            <a:ext cx="4462463" cy="3806031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071938" y="666750"/>
            <a:ext cx="4462463" cy="1043252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071938" y="1900503"/>
            <a:ext cx="4462463" cy="119089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071938" y="3281892"/>
            <a:ext cx="4462463" cy="1190890"/>
          </a:xfrm>
          <a:prstGeom prst="rect">
            <a:avLst/>
          </a:prstGeom>
          <a:noFill/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38" y="3539067"/>
            <a:ext cx="4519613" cy="99086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38" y="2157678"/>
            <a:ext cx="4519613" cy="99086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938" y="923925"/>
            <a:ext cx="4519613" cy="8432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뷰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071938" y="3281892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584"/>
              </a:lnSpc>
              <a:buSzPct val="100000"/>
              <a:buFont typeface="+mj-lt"/>
              <a:buAutoNum type="arabicPeriod" startAt="1"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조회 쿼리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071938" y="1900503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584"/>
              </a:lnSpc>
              <a:buSzPct val="100000"/>
              <a:buFont typeface="+mj-lt"/>
              <a:buAutoNum type="arabicPeriod" startAt="1"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2024년에 해당 상품을 주문한 유저 목록 뷰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071938" y="666750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584"/>
              </a:lnSpc>
              <a:buSzPct val="100000"/>
              <a:buFont typeface="+mj-lt"/>
              <a:buAutoNum type="arabicPeriod" startAt="1"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비싼 상품 뷰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9600" y="2205038"/>
            <a:ext cx="18478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뷰(View)의 등장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09600" y="25384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SELECT문 결과를 마치 테이블처럼 저장해두고, 이후 재사용할 수 있는 기능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76438"/>
            <a:ext cx="2462213" cy="11906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071938" y="1438275"/>
            <a:ext cx="4462463" cy="2269067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071938" y="1438275"/>
            <a:ext cx="4462463" cy="1039283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071938" y="2668058"/>
            <a:ext cx="4462463" cy="1039283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38" y="2925233"/>
            <a:ext cx="4519613" cy="83925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38" y="1695450"/>
            <a:ext cx="4519613" cy="8392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뷰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071938" y="2668058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DELETE 실패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071938" y="1438275"/>
            <a:ext cx="49196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INSERT 실패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09600" y="1976438"/>
            <a:ext cx="17907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장점과 제한 사항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09600" y="23098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SQL을 단순하게 만들거나 특정 사용자에게 제한된 정보만 보여줄 때 유용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9600" y="27670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하지만 여러 테이블을 조인해서 만든 뷰의 경우, 대부분 </a:t>
            </a:r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수정이나 삽입이 불가능</a:t>
            </a:r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76438"/>
            <a:ext cx="2462213" cy="119062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5725" y="1662113"/>
            <a:ext cx="4257675" cy="182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인덱스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1976438"/>
            <a:ext cx="1281112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인덱스란?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3098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필드를 기준으로 원하는 레코드를 빠르게 찾도록 돕는 자료구조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7670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트리(B+ 트리) 또는 해시 테이블 형태로 구성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47863"/>
            <a:ext cx="2462213" cy="12477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인덱스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947863"/>
            <a:ext cx="19240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클러스터형 인덱스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2281238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테이블에 하나만 존재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5384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키(Primary Key)</a:t>
            </a:r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클러스터형 인덱스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95613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인덱스 자체가 레코드를 포함하는 구조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47863"/>
            <a:ext cx="3257550" cy="12477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인덱스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947863"/>
            <a:ext cx="37147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세컨더리 인덱스(= 논클러스터형 인덱스)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2281238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키 외의 필드에 생성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5384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인덱스는 별도로 레코드 위치만 포인터로 가짐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95613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개 생성 가능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76450"/>
            <a:ext cx="2462213" cy="9906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42913"/>
            <a:ext cx="2224088" cy="17716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67025"/>
            <a:ext cx="2286000" cy="179546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712" y="2238375"/>
            <a:ext cx="140271" cy="6381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인덱스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09600" y="2076450"/>
            <a:ext cx="8191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609600" y="2409825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70만개 레코드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인덱스 없이 SELECT →</a:t>
            </a:r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0.22초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09600" y="28670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인덱스 생성 후 SELECT → </a:t>
            </a:r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0.00초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785938"/>
            <a:ext cx="2266950" cy="184308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691188" y="1685925"/>
            <a:ext cx="2462213" cy="204311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5225" y="2695575"/>
            <a:ext cx="1171575" cy="1402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인덱스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600" y="1409700"/>
            <a:ext cx="6572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691188" y="1347788"/>
            <a:ext cx="709613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23"/>
              </a:lnSpc>
              <a:buNone/>
            </a:pPr>
            <a:r>
              <a:rPr lang="en-US" sz="1988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988" dirty="0"/>
          </a:p>
        </p:txBody>
      </p:sp>
      <p:sp>
        <p:nvSpPr>
          <p:cNvPr id="8" name="Text 5"/>
          <p:cNvSpPr/>
          <p:nvPr/>
        </p:nvSpPr>
        <p:spPr>
          <a:xfrm>
            <a:off x="5691188" y="16859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 빈도가 높은 필드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91188" y="2233613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WHERE, ORDER BY, JOIN에서 자주 쓰이는 필드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91188" y="29813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건수가 많은 테이블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91188" y="3529013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속도가 중요한 대규모 서비스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9600" y="1785938"/>
            <a:ext cx="27241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인덱스 생성/유지 비용 존재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9600" y="2333625"/>
            <a:ext cx="27241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디스크 공간 증가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9600" y="2881313"/>
            <a:ext cx="27241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많은 인덱스는 오히려 성능 저하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9600" y="3429000"/>
            <a:ext cx="27241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값이 많은 필드엔 비효율적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45531"/>
            <a:ext cx="3400425" cy="4572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5825" y="1709738"/>
            <a:ext cx="4448175" cy="1719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2345531"/>
            <a:ext cx="38576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600"/>
              </a:lnSpc>
              <a:buSzPct val="100000"/>
              <a:buFont typeface="+mj-lt"/>
              <a:buAutoNum type="arabicPeriod" startAt="1"/>
            </a:pPr>
            <a:r>
              <a:rPr lang="en-US" sz="3000" b="1" spc="-6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 설계</a:t>
            </a:r>
            <a:endParaRPr lang="en-US" sz="3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47850"/>
            <a:ext cx="2462213" cy="14478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600" y="1238250"/>
            <a:ext cx="5257800" cy="266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1847850"/>
            <a:ext cx="1138237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ERD란?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181225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데이터베이스에 저장될 엔터티(Entity)의 구조와 관계를 시각적으로 표현한 그림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638425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초기 단계에서 시각적으로 모델링하는 도구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30956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ERD는 전통적인 </a:t>
            </a:r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피터 첸 표기법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00263"/>
            <a:ext cx="1362075" cy="94297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0" y="1228725"/>
            <a:ext cx="4872038" cy="120491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475" y="2838450"/>
            <a:ext cx="3671888" cy="1485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ERD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09600" y="2100263"/>
            <a:ext cx="13906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형태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09600" y="2433638"/>
            <a:ext cx="12096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 표기법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09600" y="2767013"/>
            <a:ext cx="18192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식별/비식별 관계</a:t>
            </a:r>
            <a:endParaRPr lang="en-US" sz="16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76425"/>
            <a:ext cx="2462213" cy="139065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2850" y="1847850"/>
            <a:ext cx="4781550" cy="1190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정규화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786188" y="3090863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비정규형 테이블 예시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9600" y="1876425"/>
            <a:ext cx="1281112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정규화란?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9600" y="2209800"/>
            <a:ext cx="2919413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중복을 줄이고 이상현상(삽입/삭제/갱신 이상)을 방지하기 위해 테이블을 잘게 나누고, 각 필드들이 적절한 의미만 가지도록 정리하는 작업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3067050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테이블을 </a:t>
            </a:r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'쪼개서 더 정돈되게 만든다'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76463"/>
            <a:ext cx="2462213" cy="79057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0937" y="1000125"/>
            <a:ext cx="4733925" cy="115252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825" y="2176463"/>
            <a:ext cx="140284" cy="70008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937" y="2943225"/>
            <a:ext cx="4595813" cy="17907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정규화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09600" y="2176463"/>
            <a:ext cx="1862137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 정규형 (1NF)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609600" y="2509838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속성은 원자값을 가져야 함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09600" y="2767013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셀에 오직 하나의 값만 있도록 분해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76450"/>
            <a:ext cx="2462213" cy="9906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1943100"/>
            <a:ext cx="140280" cy="6381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정규화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700463" y="1652588"/>
            <a:ext cx="419576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이름은 구매항목과 관계없음 → 부분 함수 종속 존재</a:t>
            </a:r>
            <a:endParaRPr lang="en-US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90937" y="747713"/>
          <a:ext cx="3748087" cy="8382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04887"/>
                <a:gridCol w="914400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회원 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이름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구매 항목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가격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한빛 티셔츠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29150" y="2819400"/>
          <a:ext cx="1828800" cy="8382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회원 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이름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48137" y="3905250"/>
          <a:ext cx="2833688" cy="838200"/>
        </p:xfrm>
        <a:graphic>
          <a:graphicData uri="http://schemas.openxmlformats.org/drawingml/2006/table">
            <a:tbl>
              <a:tblPr/>
              <a:tblGrid>
                <a:gridCol w="914400"/>
                <a:gridCol w="1004887"/>
                <a:gridCol w="914400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회원 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구매 항목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가격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한빛 티셔츠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/>
          <p:nvPr/>
        </p:nvSpPr>
        <p:spPr>
          <a:xfrm>
            <a:off x="609600" y="2076450"/>
            <a:ext cx="1919287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 정규형 (2NF)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609600" y="24098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 함수 종속 제거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609600" y="2667000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기본키가 복합키인 경우, 기본키의 '일부'에만 종속된 필드가 있으면 문제가 된다.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76450"/>
            <a:ext cx="2462213" cy="9906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2409825"/>
            <a:ext cx="140280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정규화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62387" y="1876425"/>
            <a:ext cx="37623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학과가 학과 사무실 위치를 결정해야 하지만, 학번 또한 학과 사무실 위치를 결정함 → 이행적 종속</a:t>
            </a:r>
            <a:endParaRPr lang="en-US" sz="1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2863" y="547688"/>
          <a:ext cx="3314700" cy="1257300"/>
        </p:xfrm>
        <a:graphic>
          <a:graphicData uri="http://schemas.openxmlformats.org/drawingml/2006/table">
            <a:tbl>
              <a:tblPr/>
              <a:tblGrid>
                <a:gridCol w="914400"/>
                <a:gridCol w="966788"/>
                <a:gridCol w="1433513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학과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학과 사무실 위치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컴퓨터과학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미디어동100호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경영학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한빛동200호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67100" y="3162300"/>
          <a:ext cx="1881187" cy="1257300"/>
        </p:xfrm>
        <a:graphic>
          <a:graphicData uri="http://schemas.openxmlformats.org/drawingml/2006/table">
            <a:tbl>
              <a:tblPr/>
              <a:tblGrid>
                <a:gridCol w="914400"/>
                <a:gridCol w="966788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학과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컴퓨터과학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경영학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29300" y="3162300"/>
          <a:ext cx="2314575" cy="1257300"/>
        </p:xfrm>
        <a:graphic>
          <a:graphicData uri="http://schemas.openxmlformats.org/drawingml/2006/table">
            <a:tbl>
              <a:tblPr/>
              <a:tblGrid>
                <a:gridCol w="966788"/>
                <a:gridCol w="1347788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학과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학과 사무실 위치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0C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컴퓨터과학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미디어동100호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경영학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82"/>
                        </a:lnSpc>
                        <a:buNone/>
                      </a:pPr>
                      <a:r>
                        <a:rPr lang="en-US" sz="1350" b="1" spc="-27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한빛동200호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/>
          <p:nvPr/>
        </p:nvSpPr>
        <p:spPr>
          <a:xfrm>
            <a:off x="609600" y="2076450"/>
            <a:ext cx="19335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 정규형 (3NF)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609600" y="24098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이행적 종속 제거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609600" y="2667000"/>
            <a:ext cx="2919413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기본키가 아닌 필드가 또 다른 기본키가 아닌 필드를 결정하는 경우를 제거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76463"/>
            <a:ext cx="2462213" cy="79057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9138" y="1366838"/>
            <a:ext cx="3028950" cy="1528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정규화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462463" y="2943225"/>
            <a:ext cx="37623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담당 교수 필드는 키가 아니지만, 과목 코드의 결정자 역할을 하므로 BCNF 를 만족하지 못함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462463" y="3448050"/>
            <a:ext cx="37623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=&gt; ‘학번’과 ‘과목 코드’를 하나의 테이블로, ‘과목 코드’와 ‘담당 교수’를 하나의 테이블로 분리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176463"/>
            <a:ext cx="27289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보이스/코드 정규형 (BCNF)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09600" y="2509838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후보키 아닌 결정자 제거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9600" y="2767013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결정자가 반드시 후보키여야 함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88" y="1543050"/>
            <a:ext cx="7439025" cy="205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정규화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300288"/>
            <a:ext cx="2185988" cy="547688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38275"/>
            <a:ext cx="4295775" cy="2262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2300288"/>
            <a:ext cx="2643188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4320"/>
              </a:lnSpc>
              <a:buSzPct val="100000"/>
              <a:buFont typeface="+mj-lt"/>
              <a:buAutoNum type="arabicPeriod" startAt="1"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</a:t>
            </a:r>
            <a:endParaRPr lang="en-US" sz="3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47875"/>
            <a:ext cx="2462213" cy="10477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457825" y="1247775"/>
            <a:ext cx="2338388" cy="2262188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825" y="1247775"/>
            <a:ext cx="2338388" cy="22621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679" y="2359049"/>
            <a:ext cx="1826772" cy="77716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633" y="2214897"/>
            <a:ext cx="1826707" cy="742617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679" y="2067718"/>
            <a:ext cx="1826772" cy="777164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633" y="1923648"/>
            <a:ext cx="1826819" cy="74259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679" y="1765567"/>
            <a:ext cx="1826772" cy="777276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3633" y="1621496"/>
            <a:ext cx="1826819" cy="74259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7732" y="1715026"/>
            <a:ext cx="498593" cy="530509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7362" y="1891189"/>
            <a:ext cx="452540" cy="169699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3421" y="1867858"/>
            <a:ext cx="250571" cy="191486"/>
          </a:xfrm>
          <a:prstGeom prst="rect">
            <a:avLst/>
          </a:prstGeom>
        </p:spPr>
      </p:pic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6349" y="1867902"/>
            <a:ext cx="277313" cy="201746"/>
          </a:xfrm>
          <a:prstGeom prst="rect">
            <a:avLst/>
          </a:prstGeom>
        </p:spPr>
      </p:pic>
      <p:pic>
        <p:nvPicPr>
          <p:cNvPr id="1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3586" y="1495202"/>
            <a:ext cx="1826865" cy="1767334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NoSQL의 특징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6362700" y="3614738"/>
            <a:ext cx="9906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</a:t>
            </a:r>
            <a:endParaRPr lang="en-US" sz="1650" dirty="0"/>
          </a:p>
        </p:txBody>
      </p:sp>
      <p:sp>
        <p:nvSpPr>
          <p:cNvPr id="18" name="Text 4"/>
          <p:cNvSpPr/>
          <p:nvPr/>
        </p:nvSpPr>
        <p:spPr>
          <a:xfrm>
            <a:off x="609600" y="2047875"/>
            <a:ext cx="20145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키-값 데이터베이스</a:t>
            </a:r>
            <a:endParaRPr lang="en-US" sz="1650" dirty="0"/>
          </a:p>
        </p:txBody>
      </p:sp>
      <p:sp>
        <p:nvSpPr>
          <p:cNvPr id="19" name="Text 5"/>
          <p:cNvSpPr/>
          <p:nvPr/>
        </p:nvSpPr>
        <p:spPr>
          <a:xfrm>
            <a:off x="609600" y="2381250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단순한 구조의 NoSQL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609600" y="26384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key와 value 쌍으로 저장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609600" y="2895600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메모리에 저장하는 인메모리 DB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47875"/>
            <a:ext cx="2462213" cy="104775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7563" y="1309688"/>
            <a:ext cx="5176838" cy="2528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NoSQL의 특징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2047875"/>
            <a:ext cx="227647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도큐먼트 데이터베이스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600" y="2381250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레코드를 문서 단위로 저장하는 형태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638425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주로 JSON이나 XML 형식으로 저장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2895600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스키마가 없다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76463"/>
            <a:ext cx="2652713" cy="7905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NoSQL의 특징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2176463"/>
            <a:ext cx="210026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데이터베이스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2509838"/>
            <a:ext cx="29194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그래프 구조로 저장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767013"/>
            <a:ext cx="310991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노드와 노드 간의 관계(엣지)를 중요하게 다룸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19275"/>
            <a:ext cx="4071938" cy="15049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NoSQL의 특징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819275"/>
            <a:ext cx="2500313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칼럼 패밀리 데이터베이스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2152650"/>
            <a:ext cx="452913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RDBMS와 비슷하게 보이지만, 실제로는 </a:t>
            </a:r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행보다 열 중심</a:t>
            </a:r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구조이다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409825"/>
            <a:ext cx="452913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Row Key가 있고, 그 밑에 열들이 묶여 있는 구조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667000"/>
            <a:ext cx="452913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Row에 속한 열들이 모여 </a:t>
            </a:r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칼럼 패밀리</a:t>
            </a:r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이루고, 이 칼럼 패밀리들이 모여 </a:t>
            </a:r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키스페이스</a:t>
            </a:r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라는 단위를 구성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124200"/>
            <a:ext cx="452913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분산 환경</a:t>
            </a:r>
            <a:pPr algn="l" indent="0" marL="0">
              <a:lnSpc>
                <a:spcPts val="1584"/>
              </a:lnSpc>
              <a:buNone/>
            </a:pPr>
            <a:r>
              <a:rPr lang="en-US" sz="1200" spc="-2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적합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2025-06-17T14:43:32Z</dcterms:created>
  <dcterms:modified xsi:type="dcterms:W3CDTF">2025-06-17T14:43:32Z</dcterms:modified>
</cp:coreProperties>
</file>